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90" r:id="rId7"/>
    <p:sldId id="291" r:id="rId8"/>
    <p:sldId id="264" r:id="rId9"/>
    <p:sldId id="268" r:id="rId10"/>
    <p:sldId id="292" r:id="rId11"/>
    <p:sldId id="286" r:id="rId12"/>
    <p:sldId id="293" r:id="rId13"/>
    <p:sldId id="294" r:id="rId14"/>
    <p:sldId id="295" r:id="rId15"/>
    <p:sldId id="276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43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434C-6EF1-1433-D718-459F94BD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EACF0A-CA95-D19E-5433-4E3FF96C8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59D122-9F3B-020F-47D5-59774639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AC2F84-C9FD-F449-7970-3F3593D3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9118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2676-99F8-5C77-116A-092D9C90C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77366D-BDA2-0C2F-5E0F-E8E727286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481E94-39CA-9F24-BEC5-F42F441A5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C43BD4-EB4B-D352-9FCD-4C262FE0F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7699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8DB2-D317-EA4C-B3A9-7A4C4126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06DCE9-78D2-7464-4897-233B40B4E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A3840A-6EA9-5425-0104-C751379F5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AD3513-1D03-E144-E0F8-7E53CC769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0887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F936-CA71-E0D3-7B30-FF56F282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3C21CC-5893-258C-91ED-03E7305F9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D18B7B-AC11-49C9-8FA0-9F974D187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35A896-2182-7D4A-0252-2B3AD33F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1359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30/07/2026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30/07/2026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Investigación </a:t>
            </a:r>
            <a:r>
              <a:rPr lang="es-ES" dirty="0" err="1"/>
              <a:t>numpy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B4B843-4F4E-A502-F297-ED842DBA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84" b="22791"/>
          <a:stretch>
            <a:fillRect/>
          </a:stretch>
        </p:blipFill>
        <p:spPr>
          <a:xfrm>
            <a:off x="5856064" y="3632480"/>
            <a:ext cx="5715000" cy="335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integrantes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Grupo 3</a:t>
            </a:r>
          </a:p>
          <a:p>
            <a:pPr rtl="0"/>
            <a:r>
              <a:rPr lang="es-ES" dirty="0"/>
              <a:t>Samuel Ojeda</a:t>
            </a:r>
          </a:p>
          <a:p>
            <a:pPr rtl="0"/>
            <a:r>
              <a:rPr lang="es-ES" dirty="0"/>
              <a:t>Bryan Andrade</a:t>
            </a:r>
          </a:p>
          <a:p>
            <a:pPr rtl="0"/>
            <a:r>
              <a:rPr lang="es-ES" dirty="0"/>
              <a:t>Jesahias Sánchez</a:t>
            </a:r>
          </a:p>
          <a:p>
            <a:pPr rtl="0"/>
            <a:r>
              <a:rPr lang="es-ES" dirty="0"/>
              <a:t>Fecha: 30/07/2026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186937"/>
            <a:ext cx="6594768" cy="3445329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¿Qué es el </a:t>
            </a:r>
            <a:r>
              <a:rPr lang="es-ES" dirty="0" err="1"/>
              <a:t>Numpy</a:t>
            </a:r>
            <a:r>
              <a:rPr lang="es-ES" dirty="0"/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8500" y="3762297"/>
            <a:ext cx="6594768" cy="1951523"/>
          </a:xfrm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Es la librería o biblioteca de Python donde llega a proporcionar una variedad de operaciones matemáticas, matrices rápidas, estadísticas, etc.</a:t>
            </a:r>
          </a:p>
          <a:p>
            <a:pPr rtl="0"/>
            <a:endParaRPr lang="es-ES" dirty="0"/>
          </a:p>
        </p:txBody>
      </p:sp>
      <p:pic>
        <p:nvPicPr>
          <p:cNvPr id="13" name="Marcador de posición de imagen 12" descr="Vista de ángulo bajo de edificios alto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Elipse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5924877" cy="278550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¿para qué sirve </a:t>
            </a:r>
            <a:r>
              <a:rPr lang="es-ES" dirty="0" err="1"/>
              <a:t>numpy</a:t>
            </a:r>
            <a:r>
              <a:rPr lang="es-ES" dirty="0"/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5"/>
            <a:ext cx="6449785" cy="2785508"/>
          </a:xfrm>
        </p:spPr>
        <p:txBody>
          <a:bodyPr rtlCol="0">
            <a:normAutofit fontScale="85000" lnSpcReduction="2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Como se dijo anteriormente </a:t>
            </a:r>
            <a:r>
              <a:rPr lang="es-ES" dirty="0" err="1"/>
              <a:t>Numpy</a:t>
            </a:r>
            <a:r>
              <a:rPr lang="es-ES" dirty="0"/>
              <a:t> sirve para </a:t>
            </a:r>
            <a:r>
              <a:rPr lang="es-MX" dirty="0"/>
              <a:t>realizar cálculos numéricos y análisis de datos a gran velocidad. Permite crear arreglos multidimensionales (vectores y matrices) y aplicarles operaciones matemáticas complejas de forma mucho más eficiente que con las listas normales de Python.</a:t>
            </a:r>
            <a:endParaRPr lang="es-ES" dirty="0"/>
          </a:p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440294"/>
            <a:ext cx="7070034" cy="19887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¿cómo se utiliza/implementa?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975898"/>
            <a:ext cx="6597650" cy="2138655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000" dirty="0"/>
              <a:t>Al igual que el otro aquí al usar </a:t>
            </a:r>
            <a:r>
              <a:rPr lang="es-ES" sz="2000" dirty="0" err="1"/>
              <a:t>colab</a:t>
            </a:r>
            <a:r>
              <a:rPr lang="es-ES" sz="2000" dirty="0"/>
              <a:t> para implementar varias funciones que ayuden con la operación, y es fácil de implementar la librería de </a:t>
            </a:r>
            <a:r>
              <a:rPr lang="es-ES" sz="2000" dirty="0" err="1"/>
              <a:t>Numpy</a:t>
            </a:r>
            <a:r>
              <a:rPr lang="es-ES" sz="2000" dirty="0"/>
              <a:t> solo tienes que entrar al </a:t>
            </a:r>
            <a:r>
              <a:rPr lang="es-ES" sz="2000" dirty="0" err="1"/>
              <a:t>colab</a:t>
            </a:r>
            <a:r>
              <a:rPr lang="es-ES" sz="2000" dirty="0"/>
              <a:t>, luego crear un código y finalmente colocar “</a:t>
            </a:r>
            <a:r>
              <a:rPr lang="es-ES" sz="2000" dirty="0" err="1"/>
              <a:t>import</a:t>
            </a:r>
            <a:r>
              <a:rPr lang="es-ES" sz="2000" dirty="0"/>
              <a:t> </a:t>
            </a:r>
            <a:r>
              <a:rPr lang="es-ES" sz="2000" dirty="0" err="1"/>
              <a:t>numpy</a:t>
            </a:r>
            <a:r>
              <a:rPr lang="es-ES" sz="2000" dirty="0"/>
              <a:t> as </a:t>
            </a:r>
            <a:r>
              <a:rPr lang="es-ES" sz="2000" dirty="0" err="1"/>
              <a:t>np</a:t>
            </a:r>
            <a:r>
              <a:rPr lang="es-ES" sz="2000" dirty="0"/>
              <a:t>” para que funcione y podamos implementar varias funciones y comandos.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Ejemplos de implementación de </a:t>
            </a:r>
            <a:r>
              <a:rPr lang="es-ES" dirty="0" err="1"/>
              <a:t>numpy</a:t>
            </a:r>
            <a:r>
              <a:rPr lang="es-ES" dirty="0"/>
              <a:t> en </a:t>
            </a:r>
            <a:r>
              <a:rPr lang="es-ES" dirty="0" err="1"/>
              <a:t>colab</a:t>
            </a:r>
            <a:r>
              <a:rPr lang="es-ES" dirty="0"/>
              <a:t> | parte 1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715448D-0A56-A49E-F81C-FD06AC8748D3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527155" y="2479631"/>
            <a:ext cx="3659438" cy="3334488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7168926E-660C-8973-8DAA-377B8625EAF2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096000" y="2479631"/>
            <a:ext cx="4804397" cy="3334488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5F3B95A5-49D1-FF82-3A9A-C9C678D11D99}"/>
              </a:ext>
            </a:extLst>
          </p:cNvPr>
          <p:cNvSpPr/>
          <p:nvPr/>
        </p:nvSpPr>
        <p:spPr>
          <a:xfrm>
            <a:off x="4442791" y="3578087"/>
            <a:ext cx="1480931" cy="934278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80D-53BA-E4FE-DF30-93D6EFB2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5D23336-B2A2-82BD-E169-28709411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Ejemplos de implementación de </a:t>
            </a:r>
            <a:r>
              <a:rPr lang="es-ES" dirty="0" err="1"/>
              <a:t>numpy</a:t>
            </a:r>
            <a:r>
              <a:rPr lang="es-ES" dirty="0"/>
              <a:t> en </a:t>
            </a:r>
            <a:r>
              <a:rPr lang="es-ES" dirty="0" err="1"/>
              <a:t>colab</a:t>
            </a:r>
            <a:r>
              <a:rPr lang="es-ES" dirty="0"/>
              <a:t> | parte 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46D358-A739-25E6-6CCF-5B8CC34F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AECACB07-4774-5845-DA8B-0DC917BD6540}"/>
              </a:ext>
            </a:extLst>
          </p:cNvPr>
          <p:cNvSpPr/>
          <p:nvPr/>
        </p:nvSpPr>
        <p:spPr>
          <a:xfrm>
            <a:off x="4442791" y="3578087"/>
            <a:ext cx="1480931" cy="934278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17B5F47-ED57-64C8-E073-549CE4256EB2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204925" y="2456688"/>
            <a:ext cx="4012947" cy="3505200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020EA002-B80A-EECF-0949-46AEA36D104F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096000" y="2456688"/>
            <a:ext cx="45148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18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617" y="896347"/>
            <a:ext cx="9190383" cy="2039341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/>
            <a:br>
              <a:rPr lang="es-ES" dirty="0"/>
            </a:br>
            <a:r>
              <a:rPr lang="es-ES" dirty="0"/>
              <a:t>Explicación del algoritmo</a:t>
            </a:r>
            <a:br>
              <a:rPr lang="es-ES" dirty="0"/>
            </a:br>
            <a:r>
              <a:rPr lang="es-ES" dirty="0"/>
              <a:t>parte 1| Validaciones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110" y="2784774"/>
            <a:ext cx="8877395" cy="3397365"/>
          </a:xfrm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rtl="0"/>
            <a:endParaRPr lang="es-ES" dirty="0"/>
          </a:p>
          <a:p>
            <a:pPr rtl="0"/>
            <a:r>
              <a:rPr lang="es-MX" dirty="0"/>
              <a:t>En este algoritmo, las validaciones ocurren tanto de forma explícita (definida en el código) como de forma implícita (por el motor de </a:t>
            </a:r>
            <a:r>
              <a:rPr lang="es-MX" dirty="0" err="1"/>
              <a:t>NumPy</a:t>
            </a:r>
            <a:r>
              <a:rPr lang="es-MX" dirty="0"/>
              <a:t>).</a:t>
            </a:r>
          </a:p>
          <a:p>
            <a:pPr rtl="0"/>
            <a:r>
              <a:rPr lang="es-MX" dirty="0"/>
              <a:t>Forzamos el uso de np.uint8 (enteros sin signo de 8 bits). Esto le indica a </a:t>
            </a:r>
            <a:r>
              <a:rPr lang="es-MX" dirty="0" err="1"/>
              <a:t>NumPy</a:t>
            </a:r>
            <a:r>
              <a:rPr lang="es-MX" dirty="0"/>
              <a:t> que solo aceptará valores del $0$ al $255$, que es el rango estándar para píxeles de color.</a:t>
            </a:r>
          </a:p>
          <a:p>
            <a:pPr rtl="0"/>
            <a:r>
              <a:rPr lang="es-MX" dirty="0"/>
              <a:t>Antes de realizar la multiplicación, </a:t>
            </a:r>
            <a:r>
              <a:rPr lang="es-MX" dirty="0" err="1"/>
              <a:t>NumPy</a:t>
            </a:r>
            <a:r>
              <a:rPr lang="es-MX" dirty="0"/>
              <a:t> valida que la última dimensión de la imagen (3 canales) coincida exactamente con la dimensión del vector de pesos (3 elementos).</a:t>
            </a:r>
          </a:p>
          <a:p>
            <a:pPr rtl="0"/>
            <a:r>
              <a:rPr lang="es-MX" dirty="0"/>
              <a:t>Si intentaras usar un vector de 2 elementos (</a:t>
            </a:r>
            <a:r>
              <a:rPr lang="es-MX" dirty="0" err="1"/>
              <a:t>pesos_rgb</a:t>
            </a:r>
            <a:r>
              <a:rPr lang="es-MX" dirty="0"/>
              <a:t> = </a:t>
            </a:r>
            <a:r>
              <a:rPr lang="es-MX" dirty="0" err="1"/>
              <a:t>np.array</a:t>
            </a:r>
            <a:r>
              <a:rPr lang="es-MX" dirty="0"/>
              <a:t>([0.5, 0.5])), </a:t>
            </a:r>
            <a:r>
              <a:rPr lang="es-MX" dirty="0" err="1"/>
              <a:t>NumPy</a:t>
            </a:r>
            <a:r>
              <a:rPr lang="es-MX" dirty="0"/>
              <a:t> detendría la ejecución inmediatamente con un error de dimensión (</a:t>
            </a:r>
            <a:r>
              <a:rPr lang="es-MX" dirty="0" err="1"/>
              <a:t>ValueError</a:t>
            </a:r>
            <a:r>
              <a:rPr lang="es-MX" dirty="0"/>
              <a:t>: </a:t>
            </a:r>
            <a:r>
              <a:rPr lang="es-MX" dirty="0" err="1"/>
              <a:t>shapes</a:t>
            </a:r>
            <a:r>
              <a:rPr lang="es-MX" dirty="0"/>
              <a:t>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aligned</a:t>
            </a:r>
            <a:r>
              <a:rPr lang="es-MX" dirty="0"/>
              <a:t>).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8854-8808-B324-A7BE-A931DD6F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5A09E-866D-040F-7172-A75D6954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617" y="896347"/>
            <a:ext cx="9190383" cy="2039341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/>
            <a:br>
              <a:rPr lang="es-ES" dirty="0"/>
            </a:br>
            <a:r>
              <a:rPr lang="es-ES" dirty="0"/>
              <a:t>Explicación del algoritmo</a:t>
            </a:r>
            <a:br>
              <a:rPr lang="es-ES" dirty="0"/>
            </a:br>
            <a:r>
              <a:rPr lang="es-ES" dirty="0"/>
              <a:t>parte 1| ciclos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0FE621D-4F95-6CC5-0C61-A522E2123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110" y="2784774"/>
            <a:ext cx="8877395" cy="3397365"/>
          </a:xfrm>
        </p:spPr>
        <p:txBody>
          <a:bodyPr rtlCol="0">
            <a:normAutofit fontScale="85000" lnSpcReduction="10000"/>
          </a:bodyPr>
          <a:lstStyle>
            <a:defPPr>
              <a:defRPr lang="es-ES"/>
            </a:defPPr>
          </a:lstStyle>
          <a:p>
            <a:pPr rtl="0"/>
            <a:r>
              <a:rPr lang="es-MX" dirty="0"/>
              <a:t>Para convertir la imagen de color a escala de grises, es necesario realizar esta operación matemática en cada uno de los 10,000 píxeles (una cuadrícula de $100 \times 100$).</a:t>
            </a:r>
          </a:p>
          <a:p>
            <a:pPr rtl="0"/>
            <a:r>
              <a:rPr lang="es-MX" dirty="0"/>
              <a:t>Con la instrucción np.dot(</a:t>
            </a:r>
            <a:r>
              <a:rPr lang="es-MX" dirty="0" err="1"/>
              <a:t>imagen_rgb</a:t>
            </a:r>
            <a:r>
              <a:rPr lang="es-MX" dirty="0"/>
              <a:t>, </a:t>
            </a:r>
            <a:r>
              <a:rPr lang="es-MX" dirty="0" err="1"/>
              <a:t>pesos_rgb</a:t>
            </a:r>
            <a:r>
              <a:rPr lang="es-MX" dirty="0"/>
              <a:t>) se puede lograr:</a:t>
            </a:r>
          </a:p>
          <a:p>
            <a:pPr rtl="0"/>
            <a:r>
              <a:rPr lang="es-MX" dirty="0"/>
              <a:t>Sin bucles </a:t>
            </a:r>
            <a:r>
              <a:rPr lang="es-MX" dirty="0" err="1"/>
              <a:t>for</a:t>
            </a:r>
            <a:r>
              <a:rPr lang="es-MX" dirty="0"/>
              <a:t> visibles ocasiona que no haya una necesidad de iterar fila por fila ni columna por columna en Python.</a:t>
            </a:r>
          </a:p>
          <a:p>
            <a:pPr rtl="0"/>
            <a:r>
              <a:rPr lang="es-MX" dirty="0"/>
              <a:t>Ciclo en C del </a:t>
            </a:r>
            <a:r>
              <a:rPr lang="es-MX" dirty="0" err="1"/>
              <a:t>NumPy</a:t>
            </a:r>
            <a:r>
              <a:rPr lang="es-MX" dirty="0"/>
              <a:t> toma el bloque entero de memoria ($100 \times 100 \times 3 = 30,000$ números) y ejecuta la multiplicación ponderada en un solo pase ultrarrápido escrito en lenguaje C.</a:t>
            </a:r>
          </a:p>
          <a:p>
            <a:pPr rtl="0"/>
            <a:r>
              <a:rPr lang="es-MX" dirty="0"/>
              <a:t>Los cálculo de estadísticas al momento de ser ejecutados los </a:t>
            </a:r>
            <a:r>
              <a:rPr lang="es-MX" dirty="0" err="1"/>
              <a:t>np.mean</a:t>
            </a:r>
            <a:r>
              <a:rPr lang="es-MX" dirty="0"/>
              <a:t>(</a:t>
            </a:r>
            <a:r>
              <a:rPr lang="es-MX" dirty="0" err="1"/>
              <a:t>imagen_gris</a:t>
            </a:r>
            <a:r>
              <a:rPr lang="es-MX" dirty="0"/>
              <a:t>) o </a:t>
            </a:r>
            <a:r>
              <a:rPr lang="es-MX" dirty="0" err="1"/>
              <a:t>np.max</a:t>
            </a:r>
            <a:r>
              <a:rPr lang="es-MX" dirty="0"/>
              <a:t>(</a:t>
            </a:r>
            <a:r>
              <a:rPr lang="es-MX" dirty="0" err="1"/>
              <a:t>imagen_gris</a:t>
            </a:r>
            <a:r>
              <a:rPr lang="es-MX" dirty="0"/>
              <a:t>), </a:t>
            </a:r>
            <a:r>
              <a:rPr lang="es-MX" dirty="0" err="1"/>
              <a:t>NumPy</a:t>
            </a:r>
            <a:r>
              <a:rPr lang="es-MX" dirty="0"/>
              <a:t> vuelve a realizar un ciclo interno compilado que recorre las 10,000 posiciones para extraer el promedio o el valor más alto en milisegundos.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A68AB6E8-BB9E-AE8E-3CC4-AD166706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936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C8F4-0C0D-4FAE-D34E-2F8D3031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77CEC-8BC4-D7C1-0CAC-84199D7E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617" y="896347"/>
            <a:ext cx="9190383" cy="2039341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/>
            <a:br>
              <a:rPr lang="es-ES" dirty="0"/>
            </a:br>
            <a:r>
              <a:rPr lang="es-ES" dirty="0"/>
              <a:t>Explicación del algoritmo</a:t>
            </a:r>
            <a:br>
              <a:rPr lang="es-ES" dirty="0"/>
            </a:br>
            <a:r>
              <a:rPr lang="es-ES" dirty="0"/>
              <a:t>parte 2| validaciones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13B9603-CFD1-0E8F-5E30-FFB35A22D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1008" y="2784773"/>
            <a:ext cx="8934497" cy="3685601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MX" dirty="0"/>
              <a:t>En este algoritmo, </a:t>
            </a:r>
            <a:r>
              <a:rPr lang="es-MX" dirty="0" err="1"/>
              <a:t>NumPy</a:t>
            </a:r>
            <a:r>
              <a:rPr lang="es-MX" dirty="0"/>
              <a:t> realiza validaciones clave para garantizar que los cálculos físicos y trigonométricos se ejecuten de forma correcta.</a:t>
            </a:r>
          </a:p>
          <a:p>
            <a:pPr rtl="0"/>
            <a:r>
              <a:rPr lang="es-MX" dirty="0"/>
              <a:t>Cuando pasas un entero (45) a funciones matemáticas de </a:t>
            </a:r>
            <a:r>
              <a:rPr lang="es-MX" dirty="0" err="1"/>
              <a:t>NumPy</a:t>
            </a:r>
            <a:r>
              <a:rPr lang="es-MX" dirty="0"/>
              <a:t> como </a:t>
            </a:r>
            <a:r>
              <a:rPr lang="es-MX" dirty="0" err="1"/>
              <a:t>np.radians</a:t>
            </a:r>
            <a:r>
              <a:rPr lang="es-MX" dirty="0"/>
              <a:t>() o </a:t>
            </a:r>
            <a:r>
              <a:rPr lang="es-MX" dirty="0" err="1"/>
              <a:t>np.sin</a:t>
            </a:r>
            <a:r>
              <a:rPr lang="es-MX" dirty="0"/>
              <a:t>(), la librería valida que el dato sea numérico y realiza una conversión implícita (casting) a número flotante (float64).</a:t>
            </a:r>
          </a:p>
          <a:p>
            <a:pPr rtl="0"/>
            <a:r>
              <a:rPr lang="es-MX" dirty="0" err="1"/>
              <a:t>np.linspace</a:t>
            </a:r>
            <a:r>
              <a:rPr lang="es-MX" dirty="0"/>
              <a:t> valida los argumentos de entrada:</a:t>
            </a:r>
          </a:p>
          <a:p>
            <a:pPr rtl="0"/>
            <a:r>
              <a:rPr lang="es-MX" dirty="0"/>
              <a:t>Verifica que el límite inferior (0) sea un número real.</a:t>
            </a:r>
          </a:p>
          <a:p>
            <a:pPr rtl="0"/>
            <a:r>
              <a:rPr lang="es-MX" dirty="0"/>
              <a:t>Verifica que el límite superior (</a:t>
            </a:r>
            <a:r>
              <a:rPr lang="es-MX" dirty="0" err="1"/>
              <a:t>t_vuelo</a:t>
            </a:r>
            <a:r>
              <a:rPr lang="es-MX" dirty="0"/>
              <a:t>) sea válido y mayor/igual a cero.</a:t>
            </a:r>
          </a:p>
          <a:p>
            <a:pPr rtl="0"/>
            <a:r>
              <a:rPr lang="es-MX" dirty="0"/>
              <a:t>Valida que el parámetro </a:t>
            </a:r>
            <a:r>
              <a:rPr lang="es-MX" dirty="0" err="1"/>
              <a:t>num</a:t>
            </a:r>
            <a:r>
              <a:rPr lang="es-MX" dirty="0"/>
              <a:t>=100 sea un entero positivo. Si enviaras un número decimal o negativo como cantidad de puntos, </a:t>
            </a:r>
            <a:r>
              <a:rPr lang="es-MX" dirty="0" err="1"/>
              <a:t>NumPy</a:t>
            </a:r>
            <a:r>
              <a:rPr lang="es-MX" dirty="0"/>
              <a:t> detendría el programa con un </a:t>
            </a:r>
            <a:r>
              <a:rPr lang="es-MX" dirty="0" err="1"/>
              <a:t>TypeError</a:t>
            </a:r>
            <a:r>
              <a:rPr lang="es-MX" dirty="0"/>
              <a:t> o </a:t>
            </a:r>
            <a:r>
              <a:rPr lang="es-MX" dirty="0" err="1"/>
              <a:t>ValueError</a:t>
            </a:r>
            <a:r>
              <a:rPr lang="es-MX" dirty="0"/>
              <a:t>.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57ADF5B5-745A-3F19-4DBF-C3E2D544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86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20A2A-86EB-B573-B841-CBAE95CD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6E36C-A35A-E773-3E12-3D6AA980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617" y="896347"/>
            <a:ext cx="9190383" cy="2039341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/>
            <a:br>
              <a:rPr lang="es-ES" dirty="0"/>
            </a:br>
            <a:r>
              <a:rPr lang="es-ES" dirty="0"/>
              <a:t>Explicación del algoritmo</a:t>
            </a:r>
            <a:br>
              <a:rPr lang="es-ES" dirty="0"/>
            </a:br>
            <a:r>
              <a:rPr lang="es-ES" dirty="0"/>
              <a:t>parte 2| ciclos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61904E1-D112-1B04-2F56-9E5DF55E6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110" y="2784774"/>
            <a:ext cx="8877395" cy="3397365"/>
          </a:xfrm>
        </p:spPr>
        <p:txBody>
          <a:bodyPr rtlCol="0">
            <a:normAutofit fontScale="77500" lnSpcReduction="20000"/>
          </a:bodyPr>
          <a:lstStyle>
            <a:defPPr>
              <a:defRPr lang="es-ES"/>
            </a:defPPr>
          </a:lstStyle>
          <a:p>
            <a:pPr rtl="0"/>
            <a:r>
              <a:rPr lang="es-MX" dirty="0"/>
              <a:t>Para obtener la trayectoria completa, necesitamos calcular las coordenadas $(x, y)$ en 100 instantes de tiempo distintos.</a:t>
            </a:r>
          </a:p>
          <a:p>
            <a:pPr rtl="0"/>
            <a:r>
              <a:rPr lang="es-MX" dirty="0"/>
              <a:t>Con las fórmulas directas llegan a pasar algunas cosas:</a:t>
            </a:r>
          </a:p>
          <a:p>
            <a:pPr rtl="0"/>
            <a:r>
              <a:rPr lang="es-MX" dirty="0"/>
              <a:t>Sin bucles </a:t>
            </a:r>
            <a:r>
              <a:rPr lang="es-MX" dirty="0" err="1"/>
              <a:t>for</a:t>
            </a:r>
            <a:r>
              <a:rPr lang="es-MX" dirty="0"/>
              <a:t> visibles ocasiona que no existe una instrucción </a:t>
            </a:r>
            <a:r>
              <a:rPr lang="es-MX" dirty="0" err="1"/>
              <a:t>for</a:t>
            </a:r>
            <a:r>
              <a:rPr lang="es-MX" dirty="0"/>
              <a:t> en tu código. Escribes la ecuación física casi igual a como la redactarías en papel.</a:t>
            </a:r>
          </a:p>
          <a:p>
            <a:pPr rtl="0"/>
            <a:r>
              <a:rPr lang="es-MX" dirty="0"/>
              <a:t>Ciclo en C del </a:t>
            </a:r>
            <a:r>
              <a:rPr lang="es-MX" dirty="0" err="1"/>
              <a:t>NumPy</a:t>
            </a:r>
            <a:r>
              <a:rPr lang="es-MX" dirty="0"/>
              <a:t> toma el vector t (que contiene los 100 tiempos) y aplica las multiplicaciones, potencias y restas a los 100 valores en paralelo dentro de un ciclo interno optimizado en lenguaje C.</a:t>
            </a:r>
          </a:p>
          <a:p>
            <a:pPr rtl="0"/>
            <a:r>
              <a:rPr lang="es-MX" dirty="0"/>
              <a:t>Reducción de arreglo (Búsqueda de máximos) al momento ejecutar </a:t>
            </a:r>
            <a:r>
              <a:rPr lang="es-MX" dirty="0" err="1"/>
              <a:t>np.max</a:t>
            </a:r>
            <a:r>
              <a:rPr lang="es-MX" dirty="0"/>
              <a:t>(y) o </a:t>
            </a:r>
            <a:r>
              <a:rPr lang="es-MX" dirty="0" err="1"/>
              <a:t>np.max</a:t>
            </a:r>
            <a:r>
              <a:rPr lang="es-MX" dirty="0"/>
              <a:t>(x), </a:t>
            </a:r>
            <a:r>
              <a:rPr lang="es-MX" dirty="0" err="1"/>
              <a:t>NumPy</a:t>
            </a:r>
            <a:r>
              <a:rPr lang="es-MX" dirty="0"/>
              <a:t> ejecuta otro ciclo interno compilado que recorre los 100 resultados en memoria para encontrar la altura máxima y el alcance total en microsegundos.</a:t>
            </a:r>
          </a:p>
          <a:p>
            <a:pPr rtl="0"/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01672D30-D78C-52A3-5AA6-4FA453E3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8703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4507" y="832519"/>
            <a:ext cx="6036650" cy="259648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MUCHAS GRACIAS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1CA2DC-410A-002E-F40B-3791B1FA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90585"/>
            <a:ext cx="5712447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{09704CBF-5A03-4CB5-9688-F815B17075A8}TF55c86556-70ea-476e-aa05-13a38f2d5b0d9d059710_win32-466d335bc4d7</Template>
  <TotalTime>149</TotalTime>
  <Words>836</Words>
  <Application>Microsoft Office PowerPoint</Application>
  <PresentationFormat>Panorámica</PresentationFormat>
  <Paragraphs>62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Calibri</vt:lpstr>
      <vt:lpstr>Personalizar</vt:lpstr>
      <vt:lpstr>Investigación numpy</vt:lpstr>
      <vt:lpstr>integrantes</vt:lpstr>
      <vt:lpstr>¿Qué es el Numpy?</vt:lpstr>
      <vt:lpstr>¿para qué sirve numpy?</vt:lpstr>
      <vt:lpstr>¿cómo se utiliza/implementa?</vt:lpstr>
      <vt:lpstr>Ejemplos de implementación de numpy en colab | parte 1</vt:lpstr>
      <vt:lpstr>Ejemplos de implementación de numpy en colab | parte 2</vt:lpstr>
      <vt:lpstr> Explicación del algoritmo parte 1| Validaciones</vt:lpstr>
      <vt:lpstr> Explicación del algoritmo parte 1| ciclos</vt:lpstr>
      <vt:lpstr> Explicación del algoritmo parte 2| validaciones</vt:lpstr>
      <vt:lpstr> Explicación del algoritmo parte 2| ciclos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Jesahias J. Sánchez Y.</dc:creator>
  <cp:lastModifiedBy>Jesahias J. Sánchez Y.</cp:lastModifiedBy>
  <cp:revision>1</cp:revision>
  <dcterms:created xsi:type="dcterms:W3CDTF">2026-07-30T19:51:34Z</dcterms:created>
  <dcterms:modified xsi:type="dcterms:W3CDTF">2026-07-30T22:21:16Z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